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1" r:id="rId5"/>
    <p:sldId id="263" r:id="rId6"/>
    <p:sldId id="264" r:id="rId7"/>
    <p:sldId id="265" r:id="rId8"/>
    <p:sldId id="259" r:id="rId9"/>
    <p:sldId id="260" r:id="rId10"/>
    <p:sldId id="262" r:id="rId11"/>
    <p:sldId id="266" r:id="rId12"/>
    <p:sldId id="267" r:id="rId13"/>
    <p:sldId id="268" r:id="rId14"/>
    <p:sldId id="273" r:id="rId15"/>
    <p:sldId id="272" r:id="rId16"/>
    <p:sldId id="269" r:id="rId17"/>
    <p:sldId id="274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132F7-8A7D-0E52-70D6-C2E8267F1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51A6A-DC17-CD45-7F94-4A0F9B7E7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8DF44-3AF2-C45B-32A5-3F8EE6A0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4EC3C-6770-F06C-8ADC-55CC8E7C1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CAC06-B0D9-C714-88A5-81F30F8E2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985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8153C-4085-E274-8D69-F45818360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6AF75-21FA-DA08-09E1-1903F044D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C661C-F158-9FA0-B496-D315E97C8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586E5-AC57-8A29-833C-3279D99C5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8009E-2E80-4F0C-17F8-888F1A79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65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502CE-181B-12EE-59E5-8EBE6F77F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79B64-7177-4719-8F80-E18E6D076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1D760-30A2-BD64-C8AA-A68B63F8D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1B115-F111-68DD-F438-C5541C88D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74EFB-D76F-6595-90E4-B84FCBCC6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2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01E28-7656-8B8A-5374-38ECC5C3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24CB7-F07F-8C5A-DF3B-8E5E2003B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105760-8308-BBE8-2137-0B0E040D5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763C7-5FE5-4F76-263C-1919BDFEA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ED092-0C1F-B0B7-5E56-1E3BC884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038CB-3CE6-E6CD-BB31-2925A9227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11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A0D37-2A1E-E4A4-43CF-0577F30B2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B1A5-AA35-7C00-56A4-3B606D0C4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FA992C-426B-92B0-D2F7-2CBA1060E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42AAE-BE5F-2CB4-7399-D5FE2768E9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6D5C43-4779-B9EC-B194-C8521E9900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37EEC9-9A91-D08F-5EE4-C1A48421A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53014E-D8B2-4375-033A-A7428BC48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4AF4B-96A6-DB48-7D20-407935775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64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03246-A2AF-DC34-BA8B-54EF4C79C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B5C03A-35F7-F2D1-7857-59B57D988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71037-F04C-D85E-9667-EA348303A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03D710-393E-A920-4B1A-E92F9275C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40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8A93AF-61C8-CD09-D341-A06CE030C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B3846-1BD2-A7D0-8F05-8C26C0D5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2371B-3C77-BA46-B73F-997CC9422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AC604-95EB-3066-C6A4-D2C662CE5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326B2-AE92-3885-362F-4645A26B8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08EDE0-ABE4-D1AF-B1EB-68C8BB9E0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E7DB1-A426-E403-661F-3420C4CB5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E9322-83DB-A229-A0A1-A6A7BABB6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8CE29-FBD3-D17F-B719-B3D546F68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06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D7B93-4340-C8A6-26F6-CA8418C07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F4735-7177-A546-BC22-E83E2B6C2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3E00EC-A4BF-6707-11C4-556FB4EA7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4B86B-9A87-7993-A155-404EE4B5E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35AB38-0621-311D-981A-C7ABF405D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BC6D1-46FD-75C6-DD56-FD92ABA3E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55E66-B24B-31FE-D009-AEF5E4334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316DF-3884-465E-8113-AABDFAF37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FBF2A-016B-B185-724A-955C79BE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70C84-AF5C-0A93-48A0-6741895DE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A21FC-DE0C-193E-BBF3-FA885D4F6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306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48A033-1883-CC91-426E-F494E056C0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B003C-8654-430F-B172-55C563161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E1234-9D9B-0A85-628D-67547B05C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A92F4-D362-8306-87AC-CFC0F9EFC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B052C-9689-3AC9-03D0-14157C6A2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9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13E19B-8C15-C92F-D2A4-8BB1158AC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767D3-2EBE-64E2-8BD6-456C9EBC5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06E57-EA2E-41C4-EFAB-D50886D917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0502DD-6525-4B73-81D9-80FC8A1FC22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B5D8E-B7B0-B0A4-3868-680819746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55759-6EB9-B3B2-415C-62B094981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80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R_WcBEJwzWA?start=163&amp;feature=oembed" TargetMode="Externa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9DAE1-D032-9E1A-12EE-F4AF55CE8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522594"/>
            <a:ext cx="5555225" cy="2387600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Tabletop Distribution Grid &amp; Automation Trainer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A6370-C635-BD25-CA90-8A8C57B8D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3279582"/>
            <a:ext cx="5643716" cy="901136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Innovative hands-on learning for modern power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6F20A5-152B-B920-3F78-37EFAF42591C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37DC02-49E7-D60A-2391-ED7BDDB59B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0DA57E-CDB5-B364-4FC0-DCBC27C4F4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232" y="0"/>
            <a:ext cx="50636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5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5F595-B700-6866-A2EC-D577C7747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E77E-314D-D9B0-32DE-C9449C3A4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368" y="360825"/>
            <a:ext cx="7875638" cy="747097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About 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EA04C-1749-0F65-E1B5-5E86315CA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368" y="1480279"/>
            <a:ext cx="7561006" cy="4261760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Zach Wadley, P.E. - Electric System Engineer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Union University class of 2015 graduate (B.S.E. with concentration in electrical)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Participated in a one-year cooperative learning experience with JEA between my Junior and Senior years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7 plus years of experience in cooperative electric distribution design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3 plus years of experience in municipal distribution and transmission design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Obtained P.E. license (Power Discipline) in 2018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Oversees all engineering for the electric and telecom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923B93-7700-B68D-2284-3AFBE2CB1FB0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3643F-5BF9-167D-2133-2E521C094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302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E07B3-0613-136E-EF21-30D9E8CDA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B80F-72C8-3C63-29B4-41B1C0542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368" y="360825"/>
            <a:ext cx="7875638" cy="747097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About Jackson Energy Authority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0CE46A-F547-C3A5-B029-0A0076232C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368" y="1480279"/>
            <a:ext cx="7561006" cy="4261760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JEA was incorporated in 1936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JEA is a multi-service utility providing electric, natural gas, propane, water, wastewater and broadband service to over 35,000 customers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JEA was the first utility in the state of TN to deliver a full fiber to the home network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JEA has been recognized nationally by both the APPA and APGA for reliability and performance awards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The electric division operates over 700 miles of distribution and transmission lines across Madison County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The electric division is responsible for the operation and maintenance of 53 power transformers across 29 substation locations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The electric division maintains ~ $300m in plant (prior to depreciation)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87A8C9-B78B-57FA-B87D-253F70D6C6EE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0BCDE1-E770-11D4-8A6E-24E230169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4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FE0EC-F9E9-170A-147D-59468A250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57D678-0982-AE1A-38B1-ADD2623704AC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37109C-1C1F-5EA1-B133-5BF6F0070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121FAA-03B5-06CA-AE09-000CF583C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4853"/>
            <a:ext cx="9144000" cy="841714"/>
          </a:xfrm>
        </p:spPr>
        <p:txBody>
          <a:bodyPr>
            <a:normAutofit/>
          </a:bodyPr>
          <a:lstStyle/>
          <a:p>
            <a:r>
              <a:rPr lang="en-US" sz="4400" dirty="0"/>
              <a:t>Power Distribution Diagram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C2BDC2-5CB3-C2B9-6CF9-9D46BE5D8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130" y="1288340"/>
            <a:ext cx="3969740" cy="506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65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5383F-01E0-FF52-9E2D-2879A811A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DEC9DA-D718-512C-F1E6-B8862AF28989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567847-92A4-B6F0-681D-C6CCDD80B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9C30546-7FA3-0985-A398-7BAAF027A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4853"/>
            <a:ext cx="9144000" cy="841714"/>
          </a:xfrm>
        </p:spPr>
        <p:txBody>
          <a:bodyPr>
            <a:normAutofit/>
          </a:bodyPr>
          <a:lstStyle/>
          <a:p>
            <a:r>
              <a:rPr lang="en-US" sz="4400" dirty="0"/>
              <a:t>Power System Components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C4582C-D479-F656-036E-8E6CF3A125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894" y="1871988"/>
            <a:ext cx="3572797" cy="35727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19372E-B072-AD1E-9E62-072E6BD927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468" y="1912374"/>
            <a:ext cx="4549878" cy="30332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C48390-227E-2D44-27D5-A97C1FC630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383" y="2172929"/>
            <a:ext cx="3509610" cy="25121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2C0201-DB55-729E-EF8F-69197616E3BD}"/>
              </a:ext>
            </a:extLst>
          </p:cNvPr>
          <p:cNvSpPr txBox="1"/>
          <p:nvPr/>
        </p:nvSpPr>
        <p:spPr>
          <a:xfrm>
            <a:off x="1592826" y="5555865"/>
            <a:ext cx="2900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RMAG 15kV Circuit Breaker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221F65-E13A-F60E-918E-F446F99179AC}"/>
              </a:ext>
            </a:extLst>
          </p:cNvPr>
          <p:cNvSpPr txBox="1"/>
          <p:nvPr/>
        </p:nvSpPr>
        <p:spPr>
          <a:xfrm>
            <a:off x="5225845" y="5056706"/>
            <a:ext cx="2900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Viper ST Recloser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18FF4A-8E54-8043-7EDE-E29F1738C331}"/>
              </a:ext>
            </a:extLst>
          </p:cNvPr>
          <p:cNvSpPr txBox="1"/>
          <p:nvPr/>
        </p:nvSpPr>
        <p:spPr>
          <a:xfrm>
            <a:off x="8345383" y="4519152"/>
            <a:ext cx="2900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SEL 351S Relay</a:t>
            </a:r>
          </a:p>
        </p:txBody>
      </p:sp>
    </p:spTree>
    <p:extLst>
      <p:ext uri="{BB962C8B-B14F-4D97-AF65-F5344CB8AC3E}">
        <p14:creationId xmlns:p14="http://schemas.microsoft.com/office/powerpoint/2010/main" val="1345322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5CA14-830D-BEE1-63DD-C0067C031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BCF0C7-5708-4717-5FC2-4AD315B2E683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F33EA4-A1D0-F241-10A9-9DE327025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9FCBB176-57C1-4523-23F1-7F98CCA4B0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4853"/>
            <a:ext cx="9144000" cy="841714"/>
          </a:xfrm>
        </p:spPr>
        <p:txBody>
          <a:bodyPr>
            <a:normAutofit/>
          </a:bodyPr>
          <a:lstStyle/>
          <a:p>
            <a:r>
              <a:rPr lang="en-US" sz="4400" dirty="0"/>
              <a:t>Power System Components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F8BED6-7ABB-03C5-A9AC-062BE0DDAD62}"/>
              </a:ext>
            </a:extLst>
          </p:cNvPr>
          <p:cNvSpPr txBox="1"/>
          <p:nvPr/>
        </p:nvSpPr>
        <p:spPr>
          <a:xfrm>
            <a:off x="1524000" y="5123245"/>
            <a:ext cx="3628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240/120V Single Phase </a:t>
            </a:r>
            <a:r>
              <a:rPr lang="en-US" sz="1200" dirty="0" err="1"/>
              <a:t>Padmounted</a:t>
            </a:r>
            <a:r>
              <a:rPr lang="en-US" sz="1200" dirty="0"/>
              <a:t> Transformer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50702F-0109-F12A-3F9B-56A563C9AE05}"/>
              </a:ext>
            </a:extLst>
          </p:cNvPr>
          <p:cNvSpPr txBox="1"/>
          <p:nvPr/>
        </p:nvSpPr>
        <p:spPr>
          <a:xfrm>
            <a:off x="8062452" y="4787461"/>
            <a:ext cx="2900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Three Phase </a:t>
            </a:r>
            <a:r>
              <a:rPr lang="en-US" sz="1200" dirty="0" err="1"/>
              <a:t>Padmounted</a:t>
            </a:r>
            <a:r>
              <a:rPr lang="en-US" sz="1200" dirty="0"/>
              <a:t> Transformer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218529-7D0C-0CC6-2A72-DE6C792E3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932038"/>
            <a:ext cx="4024618" cy="29939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8FBF7A-39B8-3F56-8E1D-E69F720337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386" y="1699752"/>
            <a:ext cx="5717458" cy="285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63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C5604-972B-CC44-7BC8-550B0DB63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A3320A-93D6-51DB-AF48-315BAEB9504D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79627C-1A7A-281C-25E8-2AFB0917B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2BD611B-8A0E-2807-016F-B69B39E5E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4853"/>
            <a:ext cx="9144000" cy="841714"/>
          </a:xfrm>
        </p:spPr>
        <p:txBody>
          <a:bodyPr>
            <a:normAutofit/>
          </a:bodyPr>
          <a:lstStyle/>
          <a:p>
            <a:r>
              <a:rPr lang="en-US" sz="4400" dirty="0"/>
              <a:t>Power System Components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FA0E4A-AEB7-05C7-9408-55105050F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817" y="1457756"/>
            <a:ext cx="3464086" cy="24202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BCA0A6-DBDA-86D2-A586-B7EB364FB2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006" y="1524743"/>
            <a:ext cx="3464087" cy="22862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4DB8DF-5A80-D716-9F1C-A19EE2D1B0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529" y="4376138"/>
            <a:ext cx="1520119" cy="20482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7A70C4-0372-8972-C07E-F2747F44F0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839" y="4155027"/>
            <a:ext cx="2108419" cy="231213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D6B9EC9-5FD5-91E9-0FD4-71C19D85E248}"/>
              </a:ext>
            </a:extLst>
          </p:cNvPr>
          <p:cNvSpPr txBox="1"/>
          <p:nvPr/>
        </p:nvSpPr>
        <p:spPr>
          <a:xfrm>
            <a:off x="2782529" y="3878028"/>
            <a:ext cx="18106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Padmounted</a:t>
            </a:r>
            <a:r>
              <a:rPr lang="en-US" sz="1200" dirty="0"/>
              <a:t> Switchgear</a:t>
            </a:r>
          </a:p>
        </p:txBody>
      </p:sp>
    </p:spTree>
    <p:extLst>
      <p:ext uri="{BB962C8B-B14F-4D97-AF65-F5344CB8AC3E}">
        <p14:creationId xmlns:p14="http://schemas.microsoft.com/office/powerpoint/2010/main" val="56381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68782-22DB-8F6A-97A9-2FAAC5E72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0B406-11C0-91A0-DE4A-73B3662F5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368" y="360825"/>
            <a:ext cx="7875638" cy="747097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Project Proposal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7EC2F-F516-48B5-5B87-6650FCBB1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368" y="1480278"/>
            <a:ext cx="7561006" cy="4872099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10000"/>
              </a:lnSpc>
            </a:pPr>
            <a:r>
              <a:rPr lang="en-US" sz="1800" b="1" dirty="0"/>
              <a:t>Realistic Engineering Challenge</a:t>
            </a:r>
          </a:p>
          <a:p>
            <a:pPr algn="l">
              <a:lnSpc>
                <a:spcPct val="110000"/>
              </a:lnSpc>
            </a:pPr>
            <a:r>
              <a:rPr lang="en-US" sz="1800" dirty="0"/>
              <a:t>Students will build a scaled model of an underground distribution system mirroring real-world components and utility operations within an academic setting.</a:t>
            </a:r>
          </a:p>
          <a:p>
            <a:pPr algn="l">
              <a:lnSpc>
                <a:spcPct val="110000"/>
              </a:lnSpc>
            </a:pPr>
            <a:r>
              <a:rPr lang="en-US" sz="1800" b="1" dirty="0"/>
              <a:t>Integration of Technologies</a:t>
            </a:r>
          </a:p>
          <a:p>
            <a:pPr algn="l">
              <a:lnSpc>
                <a:spcPct val="110000"/>
              </a:lnSpc>
            </a:pPr>
            <a:r>
              <a:rPr lang="en-US" sz="1800" dirty="0"/>
              <a:t>Students will integrate power systems, sensing, communications, control logic and human-machine interfaces for comprehensive learning.</a:t>
            </a:r>
          </a:p>
          <a:p>
            <a:pPr algn="l">
              <a:lnSpc>
                <a:spcPct val="110000"/>
              </a:lnSpc>
            </a:pPr>
            <a:r>
              <a:rPr lang="en-US" sz="1800" b="1" dirty="0"/>
              <a:t>Focus on System Restoration</a:t>
            </a:r>
          </a:p>
          <a:p>
            <a:pPr algn="l">
              <a:lnSpc>
                <a:spcPct val="110000"/>
              </a:lnSpc>
            </a:pPr>
            <a:r>
              <a:rPr lang="en-US" sz="1800" dirty="0"/>
              <a:t>Students will simulate system faults to demonstrate distribution automation and FLISR concepts (Fault Location, Isolation and Service Restoration).</a:t>
            </a:r>
          </a:p>
          <a:p>
            <a:pPr algn="l">
              <a:lnSpc>
                <a:spcPct val="110000"/>
              </a:lnSpc>
            </a:pPr>
            <a:r>
              <a:rPr lang="en-US" sz="1800" b="1" dirty="0"/>
              <a:t>Industry Applicable</a:t>
            </a:r>
          </a:p>
          <a:p>
            <a:pPr algn="l">
              <a:lnSpc>
                <a:spcPct val="110000"/>
              </a:lnSpc>
            </a:pPr>
            <a:r>
              <a:rPr lang="en-US" sz="1800" dirty="0"/>
              <a:t>Sponsored by a utility implementing these concepts today. </a:t>
            </a:r>
          </a:p>
          <a:p>
            <a:pPr algn="l">
              <a:lnSpc>
                <a:spcPct val="110000"/>
              </a:lnSpc>
            </a:pPr>
            <a:endParaRPr lang="en-US" sz="1800" dirty="0"/>
          </a:p>
          <a:p>
            <a:pPr algn="l"/>
            <a:endParaRPr lang="en-US" sz="1800" dirty="0"/>
          </a:p>
          <a:p>
            <a:pPr algn="l"/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4439AA-F6AF-E96A-DA17-C23C89422AA7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021A61-3651-5D95-383A-91DA944B6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776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A9623-5CF9-EBE9-D358-D47B70079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7551C-728B-7E84-0BB2-0A7B63CA2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368" y="505623"/>
            <a:ext cx="7875638" cy="747097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Purpose and Objectives of the Tabletop Trainer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0C1293-3F01-A6C7-781B-DE38E10A4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368" y="1480278"/>
            <a:ext cx="7561006" cy="4872099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800" b="1" dirty="0"/>
              <a:t>Core Project Objective</a:t>
            </a:r>
          </a:p>
          <a:p>
            <a:pPr algn="l">
              <a:lnSpc>
                <a:spcPct val="110000"/>
              </a:lnSpc>
            </a:pPr>
            <a:r>
              <a:rPr lang="en-US" sz="1800" dirty="0"/>
              <a:t>Design and build a tabletop distribution automation system that mimics real electrical feeder operations for fault management.</a:t>
            </a:r>
          </a:p>
          <a:p>
            <a:pPr algn="l">
              <a:lnSpc>
                <a:spcPct val="110000"/>
              </a:lnSpc>
            </a:pPr>
            <a:r>
              <a:rPr lang="en-US" sz="1800" b="1" dirty="0"/>
              <a:t>Utility-Style Control Logic</a:t>
            </a:r>
          </a:p>
          <a:p>
            <a:pPr algn="l">
              <a:lnSpc>
                <a:spcPct val="110000"/>
              </a:lnSpc>
            </a:pPr>
            <a:r>
              <a:rPr lang="en-US" sz="1800" dirty="0"/>
              <a:t>Implement operational logic, switching sequences, and verification steps based on actual utility practices and SCADA concepts using an SEL RTAC.</a:t>
            </a:r>
          </a:p>
          <a:p>
            <a:pPr algn="l">
              <a:lnSpc>
                <a:spcPct val="110000"/>
              </a:lnSpc>
            </a:pPr>
            <a:r>
              <a:rPr lang="en-US" sz="1800" b="1" dirty="0"/>
              <a:t>System-Level Engineering Focus</a:t>
            </a:r>
          </a:p>
          <a:p>
            <a:pPr algn="l">
              <a:lnSpc>
                <a:spcPct val="110000"/>
              </a:lnSpc>
            </a:pPr>
            <a:r>
              <a:rPr lang="en-US" sz="1800" dirty="0"/>
              <a:t>Focus on system behavior with states, operator feedback and system measurements. </a:t>
            </a:r>
          </a:p>
          <a:p>
            <a:pPr algn="l"/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2B77E3-796A-15C9-F4C2-D0C2C8959C38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DC6634-3AE1-B305-EB66-FCA76D02B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732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81C96-BEB7-CE78-CFC0-4D29B3A0B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ECEE4-5E38-0E7E-E8C7-1234824DE0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368" y="505623"/>
            <a:ext cx="7875638" cy="747097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What the students will design and build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B7468-AB8D-C92B-320F-45EC9EDA5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368" y="1480278"/>
            <a:ext cx="7561006" cy="4872099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800" b="1" dirty="0"/>
              <a:t>Radial Feeder Topology</a:t>
            </a:r>
          </a:p>
          <a:p>
            <a:pPr algn="l">
              <a:lnSpc>
                <a:spcPct val="110000"/>
              </a:lnSpc>
            </a:pPr>
            <a:r>
              <a:rPr lang="en-US" sz="1800" dirty="0"/>
              <a:t>The project will involve designing and building a radial feeder with two power sources and a normally open tie switch configuration.</a:t>
            </a:r>
          </a:p>
          <a:p>
            <a:pPr algn="l">
              <a:lnSpc>
                <a:spcPct val="110000"/>
              </a:lnSpc>
            </a:pPr>
            <a:r>
              <a:rPr lang="en-US" sz="1800" b="1" dirty="0"/>
              <a:t>DER Integration</a:t>
            </a:r>
          </a:p>
          <a:p>
            <a:pPr algn="l"/>
            <a:r>
              <a:rPr lang="en-US" sz="1800" dirty="0"/>
              <a:t>Interconnect a DER system to the grid to introduce bi-directional power flow and demonstrate the importance of IEEE 1547 standards. </a:t>
            </a:r>
          </a:p>
          <a:p>
            <a:pPr algn="l">
              <a:lnSpc>
                <a:spcPct val="110000"/>
              </a:lnSpc>
            </a:pPr>
            <a:r>
              <a:rPr lang="en-US" sz="1800" b="1" dirty="0"/>
              <a:t>Operational Training</a:t>
            </a:r>
          </a:p>
          <a:p>
            <a:pPr algn="l"/>
            <a:r>
              <a:rPr lang="en-US" sz="1800" dirty="0"/>
              <a:t>Tabletop trainer will be used to teach young engineers and lineman basic distribution automation concepts.</a:t>
            </a:r>
          </a:p>
          <a:p>
            <a:pPr algn="l"/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6182E6-848B-CBFA-9525-9934B679C7DA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32BEFB-09DB-5724-870E-45B11F4D59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94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4FEB0-777C-A6B9-867F-C5068DC2E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F55B7-8C57-E6AB-54A3-B275A9540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368" y="505623"/>
            <a:ext cx="7875638" cy="747097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FLISR Explained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CBFD5D-5DE4-9686-F138-EE2287BF6232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64C913-5459-AACE-84B2-83397AC44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2217A1-EB82-ED37-152C-EC550AE15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1" t="12957" r="1549" b="3374"/>
          <a:stretch>
            <a:fillRect/>
          </a:stretch>
        </p:blipFill>
        <p:spPr>
          <a:xfrm>
            <a:off x="1726811" y="1484671"/>
            <a:ext cx="9708104" cy="470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80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9BCB6-A18A-EDEC-FD2A-20CC4804C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B78F0-708A-CD43-CDA2-34B1F6683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368" y="505623"/>
            <a:ext cx="7875638" cy="747097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FLISR Explained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11D270-2D76-2E79-C2C7-66C67718C1B3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562E5A-9495-BC92-38C4-9BE08BE5EB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pic>
        <p:nvPicPr>
          <p:cNvPr id="5" name="Online Media 4" title="Virtual Tour: Customer Solution Center / Live demo of SurvalentONE FLISR in action">
            <a:hlinkClick r:id="" action="ppaction://media"/>
            <a:extLst>
              <a:ext uri="{FF2B5EF4-FFF2-40B4-BE49-F238E27FC236}">
                <a16:creationId xmlns:a16="http://schemas.microsoft.com/office/drawing/2014/main" id="{7DC541BC-FF03-3CA2-306C-BA37F4E41F8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879241" y="1359368"/>
            <a:ext cx="8433517" cy="476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35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AAE6C-F233-5EAE-BB07-0992AB98F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CD93D-2173-24ED-9A60-E6D3EEAE3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659" y="365125"/>
            <a:ext cx="10515600" cy="1325563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Physical Project Deliverables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DBD4773-0B21-AA84-3D5C-DAD1EE307CA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59" y="1628929"/>
            <a:ext cx="5181600" cy="345440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B51792E-1064-0EB7-9925-9F27CD79D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66040" y="1690688"/>
            <a:ext cx="4087760" cy="4351338"/>
          </a:xfrm>
        </p:spPr>
        <p:txBody>
          <a:bodyPr>
            <a:normAutofit/>
          </a:bodyPr>
          <a:lstStyle/>
          <a:p>
            <a:r>
              <a:rPr lang="en-US" sz="1400" dirty="0"/>
              <a:t>Portable tabletop display</a:t>
            </a:r>
          </a:p>
          <a:p>
            <a:r>
              <a:rPr lang="en-US" sz="1400" dirty="0"/>
              <a:t>3D printed power system components</a:t>
            </a:r>
          </a:p>
          <a:p>
            <a:r>
              <a:rPr lang="en-US" sz="1400" dirty="0"/>
              <a:t>Fully functional power system grid</a:t>
            </a:r>
          </a:p>
          <a:p>
            <a:r>
              <a:rPr lang="en-US" sz="1400" dirty="0"/>
              <a:t>Status indicators for each device</a:t>
            </a:r>
          </a:p>
          <a:p>
            <a:r>
              <a:rPr lang="en-US" sz="1400" dirty="0"/>
              <a:t>Variable resistive loads</a:t>
            </a:r>
          </a:p>
          <a:p>
            <a:r>
              <a:rPr lang="en-US" sz="1400" dirty="0"/>
              <a:t>Strategic installation of voltage and current sensors</a:t>
            </a:r>
          </a:p>
          <a:p>
            <a:r>
              <a:rPr lang="en-US" sz="1400" dirty="0"/>
              <a:t>DER interconnection</a:t>
            </a:r>
          </a:p>
          <a:p>
            <a:r>
              <a:rPr lang="en-US" sz="1400" dirty="0"/>
              <a:t>Programmable Logic Controller capable of implementing FLISR</a:t>
            </a:r>
          </a:p>
          <a:p>
            <a:r>
              <a:rPr lang="en-US" sz="1400" dirty="0"/>
              <a:t>Real-time HMI</a:t>
            </a:r>
          </a:p>
          <a:p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36C784-3CD0-27FA-B8B7-81794925C2C3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51FE9C-E13F-54C3-6BD7-5132DA30C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BF8DFA-E7EC-C869-C299-73C804B27090}"/>
              </a:ext>
            </a:extLst>
          </p:cNvPr>
          <p:cNvSpPr txBox="1"/>
          <p:nvPr/>
        </p:nvSpPr>
        <p:spPr>
          <a:xfrm>
            <a:off x="1297859" y="5229071"/>
            <a:ext cx="21571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Ai Generated Concept Picture</a:t>
            </a:r>
          </a:p>
        </p:txBody>
      </p:sp>
    </p:spTree>
    <p:extLst>
      <p:ext uri="{BB962C8B-B14F-4D97-AF65-F5344CB8AC3E}">
        <p14:creationId xmlns:p14="http://schemas.microsoft.com/office/powerpoint/2010/main" val="3539988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89442-B554-4626-1890-EE0C69C5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51A4-7BEF-80D9-9917-18FFD9620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659" y="365125"/>
            <a:ext cx="10515600" cy="1325563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Physical Project Deliverables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ABA68D0-05F5-A424-4C7E-7ABF3211C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66040" y="1690688"/>
            <a:ext cx="4087760" cy="4351338"/>
          </a:xfrm>
        </p:spPr>
        <p:txBody>
          <a:bodyPr>
            <a:normAutofit/>
          </a:bodyPr>
          <a:lstStyle/>
          <a:p>
            <a:r>
              <a:rPr lang="en-US" sz="1400" dirty="0"/>
              <a:t>Portable tabletop display</a:t>
            </a:r>
          </a:p>
          <a:p>
            <a:r>
              <a:rPr lang="en-US" sz="1400" dirty="0"/>
              <a:t>3D printed power system components</a:t>
            </a:r>
          </a:p>
          <a:p>
            <a:r>
              <a:rPr lang="en-US" sz="1400" dirty="0"/>
              <a:t>Fully functional power system grid</a:t>
            </a:r>
          </a:p>
          <a:p>
            <a:r>
              <a:rPr lang="en-US" sz="1400" dirty="0"/>
              <a:t>Status indicators for each device</a:t>
            </a:r>
          </a:p>
          <a:p>
            <a:r>
              <a:rPr lang="en-US" sz="1400" dirty="0"/>
              <a:t>Variable resistive loads</a:t>
            </a:r>
          </a:p>
          <a:p>
            <a:r>
              <a:rPr lang="en-US" sz="1400" dirty="0"/>
              <a:t>Strategic installation of voltage and current sensors</a:t>
            </a:r>
          </a:p>
          <a:p>
            <a:r>
              <a:rPr lang="en-US" sz="1400" dirty="0"/>
              <a:t>DER interconnection</a:t>
            </a:r>
          </a:p>
          <a:p>
            <a:r>
              <a:rPr lang="en-US" sz="1400" dirty="0"/>
              <a:t>Programmable Logic Controller capable of implementing FLISR</a:t>
            </a:r>
          </a:p>
          <a:p>
            <a:r>
              <a:rPr lang="en-US" sz="1400" dirty="0"/>
              <a:t>Real-time HMI</a:t>
            </a:r>
          </a:p>
          <a:p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C36DFD-F3C2-3CB4-25B7-3CECD1B55288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7AE2FB-5D9B-4FD9-BC46-04AEDA9EA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278E5A-4A9A-C925-59E0-E7F95B8459B1}"/>
              </a:ext>
            </a:extLst>
          </p:cNvPr>
          <p:cNvSpPr txBox="1"/>
          <p:nvPr/>
        </p:nvSpPr>
        <p:spPr>
          <a:xfrm>
            <a:off x="2452028" y="6428390"/>
            <a:ext cx="31072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SEL RTAC (Real Time Automation Controller)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1AE3A91-D2C4-BB0D-FD2C-B583CBF556F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733" y="1480272"/>
            <a:ext cx="4785852" cy="24261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190762-B1F0-547C-4182-684E207A02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742" y="4000131"/>
            <a:ext cx="4172257" cy="236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150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AB026-1EA6-1543-7FD9-80EE94A42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A8819-9C9E-EAD7-8711-9230A17BA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659" y="365125"/>
            <a:ext cx="10515600" cy="1325563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Physical Project Deliverables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210DE64-E7A1-142E-AD41-1509847BF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66040" y="1690688"/>
            <a:ext cx="4087760" cy="4351338"/>
          </a:xfrm>
        </p:spPr>
        <p:txBody>
          <a:bodyPr>
            <a:normAutofit/>
          </a:bodyPr>
          <a:lstStyle/>
          <a:p>
            <a:r>
              <a:rPr lang="en-US" sz="1400" dirty="0"/>
              <a:t>Portable tabletop display</a:t>
            </a:r>
          </a:p>
          <a:p>
            <a:r>
              <a:rPr lang="en-US" sz="1400" dirty="0"/>
              <a:t>3D printed power system components</a:t>
            </a:r>
          </a:p>
          <a:p>
            <a:r>
              <a:rPr lang="en-US" sz="1400" dirty="0"/>
              <a:t>Fully functional power system grid</a:t>
            </a:r>
          </a:p>
          <a:p>
            <a:r>
              <a:rPr lang="en-US" sz="1400" dirty="0"/>
              <a:t>Status indicators for each device</a:t>
            </a:r>
          </a:p>
          <a:p>
            <a:r>
              <a:rPr lang="en-US" sz="1400" dirty="0"/>
              <a:t>Variable resistive loads</a:t>
            </a:r>
          </a:p>
          <a:p>
            <a:r>
              <a:rPr lang="en-US" sz="1400" dirty="0"/>
              <a:t>Strategic installation of voltage and current sensors</a:t>
            </a:r>
          </a:p>
          <a:p>
            <a:r>
              <a:rPr lang="en-US" sz="1400" dirty="0"/>
              <a:t>DER interconnection</a:t>
            </a:r>
          </a:p>
          <a:p>
            <a:r>
              <a:rPr lang="en-US" sz="1400" dirty="0"/>
              <a:t>Programmable Logic Controller capable of implementing FLISR</a:t>
            </a:r>
          </a:p>
          <a:p>
            <a:r>
              <a:rPr lang="en-US" sz="1400" dirty="0"/>
              <a:t>Real-time HMI</a:t>
            </a:r>
          </a:p>
          <a:p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C7831-667C-842C-C2B7-E17C71C8D378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B911F4-1483-51C8-6909-CD0ED133F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1E6A7B-D02A-92DE-1125-577CD0556936}"/>
              </a:ext>
            </a:extLst>
          </p:cNvPr>
          <p:cNvSpPr txBox="1"/>
          <p:nvPr/>
        </p:nvSpPr>
        <p:spPr>
          <a:xfrm>
            <a:off x="1221659" y="5903526"/>
            <a:ext cx="2349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SEL RTAC Generated HMI Screen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CC15A11-B48E-E698-86E4-1F0627D332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59" y="1690688"/>
            <a:ext cx="5181600" cy="411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76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BDA94-0A0A-0D3E-CBD2-2BD18B489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74F26-CEE0-3B8A-9712-1B3B79F0E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659" y="296299"/>
            <a:ext cx="10515600" cy="1325563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Technical Project Deliverables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A81B73-D36E-D7BA-ECC9-A762792F3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66040" y="1690688"/>
            <a:ext cx="4087760" cy="4351338"/>
          </a:xfrm>
        </p:spPr>
        <p:txBody>
          <a:bodyPr>
            <a:normAutofit/>
          </a:bodyPr>
          <a:lstStyle/>
          <a:p>
            <a:r>
              <a:rPr lang="en-US" sz="1400" dirty="0"/>
              <a:t>Scaled digital model in </a:t>
            </a:r>
            <a:r>
              <a:rPr lang="en-US" sz="1400" dirty="0" err="1"/>
              <a:t>Milsoft’s</a:t>
            </a:r>
            <a:r>
              <a:rPr lang="en-US" sz="1400" dirty="0"/>
              <a:t> EA software to analyze power flow </a:t>
            </a:r>
          </a:p>
          <a:p>
            <a:r>
              <a:rPr lang="en-US" sz="1400" dirty="0"/>
              <a:t>Proposed System Coordination Study in </a:t>
            </a:r>
            <a:r>
              <a:rPr lang="en-US" sz="1400" dirty="0" err="1"/>
              <a:t>Milsoft’s</a:t>
            </a:r>
            <a:r>
              <a:rPr lang="en-US" sz="1400" dirty="0"/>
              <a:t> LightTable Solution to verify device coordination</a:t>
            </a:r>
          </a:p>
          <a:p>
            <a:r>
              <a:rPr lang="en-US" sz="1400" dirty="0"/>
              <a:t>Implementation of the relevant ANSI, IEEE and NESC standards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0F680C-A66D-69CC-9FCD-3093BE95607C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1DD167-08BC-F781-51FE-A62EE1577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D2E3B9C-F9AA-1ADB-333F-B834404178D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59" y="1690688"/>
            <a:ext cx="5181600" cy="24976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3BC28F-1313-3E2B-32D8-039E532658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59" y="4390271"/>
            <a:ext cx="5181600" cy="19694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1589731-FA97-064B-9EB9-C90186F1E6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170" y="4188293"/>
            <a:ext cx="2857500" cy="1600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B2E2977-7F3F-23DB-63C4-CB2D4E1ED7B6}"/>
              </a:ext>
            </a:extLst>
          </p:cNvPr>
          <p:cNvSpPr txBox="1"/>
          <p:nvPr/>
        </p:nvSpPr>
        <p:spPr>
          <a:xfrm>
            <a:off x="1221659" y="6423201"/>
            <a:ext cx="21632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Example distribution analysis </a:t>
            </a:r>
          </a:p>
        </p:txBody>
      </p:sp>
    </p:spTree>
    <p:extLst>
      <p:ext uri="{BB962C8B-B14F-4D97-AF65-F5344CB8AC3E}">
        <p14:creationId xmlns:p14="http://schemas.microsoft.com/office/powerpoint/2010/main" val="1678077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1A74C-7867-2DFD-2551-0EC9108C8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2B89E-D9BF-04F0-EC51-C2A7EA3A8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659" y="296299"/>
            <a:ext cx="10515600" cy="1325563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Technical Project Deliverables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5055342-8A7B-B3D4-4BE0-A403BDB6B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66040" y="1690688"/>
            <a:ext cx="4087760" cy="4351338"/>
          </a:xfrm>
        </p:spPr>
        <p:txBody>
          <a:bodyPr>
            <a:normAutofit/>
          </a:bodyPr>
          <a:lstStyle/>
          <a:p>
            <a:r>
              <a:rPr lang="en-US" sz="1400" dirty="0"/>
              <a:t>Scaled digital model in </a:t>
            </a:r>
            <a:r>
              <a:rPr lang="en-US" sz="1400" dirty="0" err="1"/>
              <a:t>Milsoft’s</a:t>
            </a:r>
            <a:r>
              <a:rPr lang="en-US" sz="1400" dirty="0"/>
              <a:t> EA software to analyze power flow capabilities</a:t>
            </a:r>
          </a:p>
          <a:p>
            <a:r>
              <a:rPr lang="en-US" sz="1400" dirty="0"/>
              <a:t>Proposed System Coordination Study in </a:t>
            </a:r>
            <a:r>
              <a:rPr lang="en-US" sz="1400" dirty="0" err="1"/>
              <a:t>Milsoft’s</a:t>
            </a:r>
            <a:r>
              <a:rPr lang="en-US" sz="1400" dirty="0"/>
              <a:t> LightTable Solution to verify device coordination</a:t>
            </a:r>
          </a:p>
          <a:p>
            <a:r>
              <a:rPr lang="en-US" sz="1400" dirty="0"/>
              <a:t>Implementation of the relevant ANSI, IEEE and NESC standards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B8C5CF-692E-EED0-0C97-1E8FFA876F6D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6A16CC-1375-459D-C30E-7DCF56724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50593E-7AD5-8C49-9AB3-2152CDE4A3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170" y="4188293"/>
            <a:ext cx="2857500" cy="16002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103D2FD-81B5-2C6B-D48A-8CF975DED33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659" y="1690688"/>
            <a:ext cx="5732206" cy="43780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7B287F-5FD7-E077-6484-3EE0D357A28D}"/>
              </a:ext>
            </a:extLst>
          </p:cNvPr>
          <p:cNvSpPr txBox="1"/>
          <p:nvPr/>
        </p:nvSpPr>
        <p:spPr>
          <a:xfrm>
            <a:off x="1221659" y="6157979"/>
            <a:ext cx="3360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Example TCC (Time Current Curve) coordination</a:t>
            </a:r>
          </a:p>
        </p:txBody>
      </p:sp>
    </p:spTree>
    <p:extLst>
      <p:ext uri="{BB962C8B-B14F-4D97-AF65-F5344CB8AC3E}">
        <p14:creationId xmlns:p14="http://schemas.microsoft.com/office/powerpoint/2010/main" val="3228607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74458-FECE-03B3-6BA8-E3F8E8BA9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9C400-3410-A876-111B-F11156098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659" y="296299"/>
            <a:ext cx="10515600" cy="1325563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Long-Term Impact</a:t>
            </a:r>
            <a:endParaRPr lang="en-US" sz="4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976066-4C85-5262-384B-5627A733A6D5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37CD93-5E0C-42B1-CCD9-6D0BC8CDF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1A65AF-2F72-551C-E913-5B093B5763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671" y="1825625"/>
            <a:ext cx="669331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Real-World Power Systems Experience</a:t>
            </a:r>
          </a:p>
          <a:p>
            <a:pPr lvl="1"/>
            <a:r>
              <a:rPr lang="en-US" sz="1400" dirty="0"/>
              <a:t>Implementing modern distribution system concepts</a:t>
            </a:r>
          </a:p>
          <a:p>
            <a:pPr lvl="1"/>
            <a:r>
              <a:rPr lang="en-US" sz="1400" dirty="0"/>
              <a:t>Exposure to RTAC/SCADA-style control</a:t>
            </a:r>
          </a:p>
          <a:p>
            <a:pPr lvl="1"/>
            <a:r>
              <a:rPr lang="en-US" sz="1400" dirty="0"/>
              <a:t>This experience mirrors what utilities and consumers face daily</a:t>
            </a:r>
            <a:endParaRPr lang="en-US" sz="1800" dirty="0"/>
          </a:p>
          <a:p>
            <a:r>
              <a:rPr lang="en-US" sz="1800" dirty="0"/>
              <a:t>Multidisciplinary Engineering Skillset</a:t>
            </a:r>
          </a:p>
          <a:p>
            <a:pPr lvl="1"/>
            <a:r>
              <a:rPr lang="en-US" sz="1400" dirty="0"/>
              <a:t>Power Systems, Controls, Communications, Hardware Design</a:t>
            </a:r>
          </a:p>
          <a:p>
            <a:r>
              <a:rPr lang="en-US" sz="1800" dirty="0"/>
              <a:t>Bridges Theory and Real-World Grid Operation</a:t>
            </a:r>
          </a:p>
          <a:p>
            <a:pPr lvl="1"/>
            <a:r>
              <a:rPr lang="en-US" sz="1400" dirty="0"/>
              <a:t>From System modeling in Milsoft to physical system behavior</a:t>
            </a:r>
          </a:p>
          <a:p>
            <a:r>
              <a:rPr lang="en-US" sz="1800" dirty="0"/>
              <a:t>Resume-Level Project</a:t>
            </a:r>
          </a:p>
          <a:p>
            <a:pPr lvl="1"/>
            <a:r>
              <a:rPr lang="en-US" sz="1400" dirty="0"/>
              <a:t>Highly relevant to utilities, EPCs and grid modernization roles</a:t>
            </a:r>
          </a:p>
          <a:p>
            <a:r>
              <a:rPr lang="en-US" sz="1800" dirty="0"/>
              <a:t>Workforce Development</a:t>
            </a:r>
          </a:p>
          <a:p>
            <a:pPr lvl="1"/>
            <a:r>
              <a:rPr lang="en-US" sz="1400" dirty="0"/>
              <a:t>Train the workforce of the future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pPr marL="457200" lvl="1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75439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9A725-0B2A-A521-AB6C-E7A29E600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BA0F8-732D-E03B-5324-872422FA6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659" y="296299"/>
            <a:ext cx="10515600" cy="1325563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Questions?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86C882-AFD2-DF91-64B1-EEAADC0A94BF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D1DD9A-0D18-BBE5-DE2D-38E43432E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A8E86B-CADF-6915-3C0E-DE0B97F324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671" y="1825625"/>
            <a:ext cx="66933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Zach Wadley, P.E. - Electric System Engineer</a:t>
            </a:r>
          </a:p>
          <a:p>
            <a:pPr marL="0" indent="0">
              <a:buNone/>
            </a:pPr>
            <a:r>
              <a:rPr lang="en-US" sz="1800" dirty="0"/>
              <a:t>Email: REDACT</a:t>
            </a:r>
          </a:p>
          <a:p>
            <a:pPr marL="0" indent="0">
              <a:buNone/>
            </a:pPr>
            <a:r>
              <a:rPr lang="en-US" sz="1800" dirty="0"/>
              <a:t>Cell: REDACT</a:t>
            </a:r>
          </a:p>
          <a:p>
            <a:endParaRPr lang="en-US" sz="1800" dirty="0"/>
          </a:p>
          <a:p>
            <a:pPr marL="457200" lvl="1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83809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4063</TotalTime>
  <Words>800</Words>
  <Application>Microsoft Office PowerPoint</Application>
  <PresentationFormat>Widescreen</PresentationFormat>
  <Paragraphs>116</Paragraphs>
  <Slides>19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Tabletop Distribution Grid &amp; Automation Trainer</vt:lpstr>
      <vt:lpstr>About Me</vt:lpstr>
      <vt:lpstr>About Jackson Energy Authority</vt:lpstr>
      <vt:lpstr>Power Distribution Diagram</vt:lpstr>
      <vt:lpstr>Power System Components</vt:lpstr>
      <vt:lpstr>Power System Components</vt:lpstr>
      <vt:lpstr>Power System Components</vt:lpstr>
      <vt:lpstr>Project Proposal Overview</vt:lpstr>
      <vt:lpstr>Purpose and Objectives of the Tabletop Trainer</vt:lpstr>
      <vt:lpstr>What the students will design and build</vt:lpstr>
      <vt:lpstr>FLISR Explained</vt:lpstr>
      <vt:lpstr>FLISR Explained</vt:lpstr>
      <vt:lpstr>Physical Project Deliverables</vt:lpstr>
      <vt:lpstr>Physical Project Deliverables</vt:lpstr>
      <vt:lpstr>Physical Project Deliverables</vt:lpstr>
      <vt:lpstr>Technical Project Deliverables</vt:lpstr>
      <vt:lpstr>Technical Project Deliverables</vt:lpstr>
      <vt:lpstr>Long-Term Impact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Zach Wadley</dc:creator>
  <cp:lastModifiedBy>Jordan Prunty</cp:lastModifiedBy>
  <cp:revision>22</cp:revision>
  <dcterms:created xsi:type="dcterms:W3CDTF">2026-03-20T20:19:17Z</dcterms:created>
  <dcterms:modified xsi:type="dcterms:W3CDTF">2026-09-17T16:59:18Z</dcterms:modified>
</cp:coreProperties>
</file>